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Secure E-Commerce Transactions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Cryptographic Case Study - BCS703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Online Shopping Threat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Card-not-present fraud is the dominant attack on e-commerce.</a:t>
            </a:r>
          </a:p>
          <a:p>
            <a:pPr/>
            <a:r>
              <a:rPr/>
              <a:t>Card numbers, CVVs, and customer PII travel over public networks every second.</a:t>
            </a:r>
          </a:p>
          <a:p>
            <a:pPr/>
            <a:r>
              <a:rPr/>
              <a:t>Attackers exploit weak TLS, stored-card theft, man-in-the-middle, replay and tampering.</a:t>
            </a:r>
          </a:p>
          <a:p>
            <a:pPr/>
            <a:r>
              <a:rPr/>
              <a:t>PCI-DSS mandates end-to-end encryption and integrity controls for cardholder data.</a:t>
            </a:r>
          </a:p>
          <a:p>
            <a:pPr/>
            <a:r>
              <a:rPr/>
              <a:t>A single compromised record can mean regulatory fines, chargebacks and brand damage.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Cryptography Alone Is Not Enough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Confidentiality without integrity = attacker can flip encrypted bytes blindly.</a:t>
            </a:r>
          </a:p>
          <a:p>
            <a:pPr/>
            <a:r>
              <a:rPr/>
              <a:t>Integrity without authenticity = any sender can claim to be a legitimate customer.</a:t>
            </a:r>
          </a:p>
          <a:p>
            <a:pPr/>
            <a:r>
              <a:rPr/>
              <a:t>Symmetric crypto is fast but cannot safely exchange keys across the Internet.</a:t>
            </a:r>
          </a:p>
          <a:p>
            <a:pPr/>
            <a:r>
              <a:rPr/>
              <a:t>Asymmetric crypto solves key exchange but is too slow for full payloads.</a:t>
            </a:r>
          </a:p>
          <a:p>
            <a:pPr/>
            <a:r>
              <a:rPr/>
              <a:t>Solution: HYBRID encryption + signatures + hashing, layered for defence-in-depth.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i="1"/>
              <a:t>Protect customer payment information and transaction details from cyberattacks during online shopping.</a:t>
            </a:r>
          </a:p>
          <a:p>
            <a:pPr/>
            <a:r>
              <a:rPr b="1"/>
              <a:t>Specific sub-problems to solve:</a:t>
            </a:r>
          </a:p>
          <a:p>
            <a:pPr lvl="1"/>
            <a:r>
              <a:rPr/>
              <a:t>P-1  Confidentiality of card number, CVV, and customer PII in transit.</a:t>
            </a:r>
          </a:p>
          <a:p>
            <a:pPr lvl="1"/>
            <a:r>
              <a:rPr/>
              <a:t>P-2  Integrity - any byte flip in the transaction must be detected.</a:t>
            </a:r>
          </a:p>
          <a:p>
            <a:pPr lvl="1"/>
            <a:r>
              <a:rPr/>
              <a:t>P-3  Authenticity - the receiver must know the message came from the claimed customer.</a:t>
            </a:r>
          </a:p>
          <a:p>
            <a:pPr lvl="1"/>
            <a:r>
              <a:rPr/>
              <a:t>P-4  Non-repudiation - a customer cannot later deny having sent the transaction.</a:t>
            </a:r>
          </a:p>
          <a:p>
            <a:pPr lvl="1"/>
            <a:r>
              <a:rPr/>
              <a:t>P-5  Replay protection via a unique transaction ID and timestamp per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O-1  Build a working prototype that processes an end-to-end secure transaction.</a:t>
            </a:r>
          </a:p>
          <a:p>
            <a:pPr/>
            <a:r>
              <a:rPr/>
              <a:t>O-2  Use industry-grade primitives: AES-256, RSA-2048, RSA-PSS, SHA-256, HMAC-SHA256.</a:t>
            </a:r>
          </a:p>
          <a:p>
            <a:pPr/>
            <a:r>
              <a:rPr/>
              <a:t>O-3  Demonstrate confidentiality, integrity, authenticity and non-repudiation.</a:t>
            </a:r>
          </a:p>
          <a:p>
            <a:pPr/>
            <a:r>
              <a:rPr/>
              <a:t>O-4  Show failure modes: a tampered envelope is rejected; a wrong key cannot decrypt.</a:t>
            </a:r>
          </a:p>
          <a:p>
            <a:pPr/>
            <a:r>
              <a:rPr/>
              <a:t>O-5  Produce a reproducible Python implementation that can be demoed 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Cryptographic Techniques Used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AES-256 in CBC mode with PKCS#7 padding - encrypts the full transaction payload.</a:t>
            </a:r>
          </a:p>
          <a:p>
            <a:pPr/>
            <a:r>
              <a:rPr/>
              <a:t>Random 128-bit IV generated per transaction - semantic security.</a:t>
            </a:r>
          </a:p>
          <a:p>
            <a:pPr/>
            <a:r>
              <a:rPr/>
              <a:t>RSA-2048 OAEP / SHA-256 - encrypts the AES session key for safe transport.</a:t>
            </a:r>
          </a:p>
          <a:p>
            <a:pPr/>
            <a:r>
              <a:rPr/>
              <a:t>RSA-PSS / SHA-256 digital signature - customer signs the payload.</a:t>
            </a:r>
          </a:p>
          <a:p>
            <a:pPr/>
            <a:r>
              <a:rPr/>
              <a:t>SHA-256 hash - tamper-evident record of the payload.</a:t>
            </a:r>
          </a:p>
          <a:p>
            <a:pPr/>
            <a:r>
              <a:rPr/>
              <a:t>HMAC-SHA256 - fast payment-token integrity check at the gateway.</a:t>
            </a:r>
          </a:p>
          <a:p>
            <a:pPr/>
            <a:r>
              <a:rPr/>
              <a:t>All primitives come from PyCryptodome (FIPS-aligned algorithms).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Mapping Cryptography to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61257">
                <a:tc>
                  <a:txBody>
                    <a:bodyPr/>
                    <a:lstStyle/>
                    <a:p>
                      <a:r>
                        <a:t>Threat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Cryptographic Control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Eavesdropping on card / CVV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AES-256-CBC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Key interception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RSA-2048 OAEP key wrapping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Tampering of amount /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HMAC-SHA256 + RSA-PSS signature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Impersonation of 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RSA-PSS verification with public key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r>
                        <a:t>Repudiation by 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RSA-PSS (non-repudiation)</a:t>
                      </a:r>
                    </a:p>
                  </a:txBody>
                  <a:tcPr/>
                </a:tc>
              </a:tr>
              <a:tr h="261258">
                <a:tc>
                  <a:txBody>
                    <a:bodyPr/>
                    <a:lstStyle/>
                    <a:p>
                      <a:r>
                        <a:t>Replay of old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TXN-ID + UTC timestamp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Proposed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Two parties: CUSTOMER (browser / app) and PAYMENT GATEWAY (server).</a:t>
            </a:r>
          </a:p>
          <a:p>
            <a:pPr/>
            <a:r>
              <a:rPr/>
              <a:t>Each party holds an RSA-2048 keypair generated locally at session start.</a:t>
            </a:r>
          </a:p>
          <a:p>
            <a:pPr/>
            <a:r>
              <a:rPr/>
              <a:t>Public keys are exchanged in advance (in production: signed X.509 certificates).</a:t>
            </a:r>
          </a:p>
          <a:p>
            <a:pPr/>
            <a:r>
              <a:rPr/>
              <a:t>Customer builds a JSON payload: items, amount, card, customer, timestamp, txn_id.</a:t>
            </a:r>
          </a:p>
          <a:p>
            <a:pPr/>
            <a:r>
              <a:rPr/>
              <a:t>Payload is signed -&gt; encrypted with AES-256 -&gt; AES key wrapped with RSA -&gt; sent.</a:t>
            </a:r>
          </a:p>
          <a:p>
            <a:pPr/>
            <a:r>
              <a:rPr/>
              <a:t>Gateway unwraps key -&gt; decrypts -&gt; verifies HMAC -&gt; verifies signature -&gt; approves.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28600">
                <a:tc>
                  <a:txBody>
                    <a:bodyPr/>
                    <a:lstStyle/>
                    <a:p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Customer signs plaintext JSON with RSA-PSS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Sym enc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Customer encrypts JSON with random AES-256 key + IV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Wrap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AES key is encrypted with gateway RSA-2048 public key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Envelop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Ciphertext + IV + wrapped key + signature + HMAC -&gt; envelope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Unwrap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Gateway unwraps AES key with its RSA-2048 private key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Decrypt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AES-256-CBC decrypts the ciphertext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HMAC + RSA-PSS verified, then APPROVE or REJECT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Implementation Details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Language: Python 3.11</a:t>
            </a:r>
          </a:p>
          <a:p>
            <a:pPr/>
            <a:r>
              <a:rPr/>
              <a:t>Library: PyCryptodome (AES, RSA, PSS, SHA256, HMAC)</a:t>
            </a:r>
          </a:p>
          <a:p>
            <a:pPr/>
            <a:r>
              <a:rPr/>
              <a:t>File: secure_ecommerce.py (single-file, runnable end-to-end demo)</a:t>
            </a:r>
          </a:p>
          <a:p>
            <a:pPr/>
            <a:r>
              <a:rPr/>
              <a:t>Modules: build_transaction_payload, customer_sends_transaction, gateway_processes_envelope</a:t>
            </a:r>
          </a:p>
          <a:p>
            <a:pPr/>
            <a:r>
              <a:rPr/>
              <a:t>Test scenarios: happy path, tampered ciphertext, wrong private key</a:t>
            </a:r>
          </a:p>
          <a:p>
            <a:pPr/>
            <a:r>
              <a:rPr/>
              <a:t>Output: human-readable log + JSON envelope for inspection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Excerpt - Sign + Encrypt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Consolas"/>
              </a:rPr>
              <a:t>h = SHA256.new(raw)</a:t>
            </a:r>
          </a:p>
          <a:p>
            <a:pPr/>
            <a:r>
              <a:rPr>
                <a:latin typeface="Consolas"/>
              </a:rPr>
              <a:t>signature = pss.new(customer_priv).sign(h)</a:t>
            </a:r>
          </a:p>
          <a:p>
            <a:pPr/>
            <a:r>
              <a:rPr>
                <a:latin typeface="Consolas"/>
              </a:rPr>
              <a:t>aes_key = get_random_bytes(32)   # AES-256</a:t>
            </a:r>
          </a:p>
          <a:p>
            <a:pPr/>
            <a:r>
              <a:rPr>
                <a:latin typeface="Consolas"/>
              </a:rPr>
              <a:t>iv, ct = aes_encrypt(aes_key, raw)</a:t>
            </a:r>
          </a:p>
          <a:p>
            <a:pPr/>
            <a:r>
              <a:rPr>
                <a:latin typeface="Consolas"/>
              </a:rPr>
              <a:t>wrapped = PKCS1_OAEP.new(gw_pub, hashAlgo=SHA256).encrypt(aes_key)</a:t>
            </a:r>
          </a:p>
          <a:p>
            <a:pPr/>
            <a:r>
              <a:rPr>
                <a:latin typeface="Consolas"/>
              </a:rPr>
              <a:t>mac = hmac.new(aes_key, token_input, hashlib.sha256).digest()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Excerpt - Verify + Approve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Consolas"/>
              </a:rPr>
              <a:t>aes_key = PKCS1_OAEP.new(gw_priv, hashAlgo=SHA256).decrypt(wrapped)</a:t>
            </a:r>
          </a:p>
          <a:p>
            <a:pPr/>
            <a:r>
              <a:rPr>
                <a:latin typeface="Consolas"/>
              </a:rPr>
              <a:t>raw = aes_decrypt(aes_key, iv, ct)   # raises on bad padding</a:t>
            </a:r>
          </a:p>
          <a:p>
            <a:pPr/>
            <a:r>
              <a:rPr>
                <a:latin typeface="Consolas"/>
              </a:rPr>
              <a:t>payload = json.loads(raw)</a:t>
            </a:r>
          </a:p>
          <a:p>
            <a:pPr/>
            <a:r>
              <a:rPr>
                <a:latin typeface="Consolas"/>
              </a:rPr>
              <a:t>if not hmac.compare_digest(mac_recv, mac_calc): REJECT</a:t>
            </a:r>
          </a:p>
          <a:p>
            <a:pPr/>
            <a:r>
              <a:rPr>
                <a:latin typeface="Consolas"/>
              </a:rPr>
              <a:t>pss.new(customer_pub).verify(SHA256.new(raw), signature)</a:t>
            </a:r>
          </a:p>
          <a:p>
            <a:pPr/>
            <a:r>
              <a:rPr>
                <a:latin typeface="Consolas"/>
              </a:rPr>
              <a:t>return {auth_code, status: 'APPROVED', amount, txn_id}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Results and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Happy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TXN-2707D81D4453 generated for cart of 2 items, total INR 1,648.00.</a:t>
            </a:r>
          </a:p>
          <a:p>
            <a:pPr/>
            <a:r>
              <a:rPr/>
              <a:t>Step 1: AES key unwrapped by gateway RSA-2048 private key  -&gt; OK</a:t>
            </a:r>
          </a:p>
          <a:p>
            <a:pPr/>
            <a:r>
              <a:rPr/>
              <a:t>Step 2: AES-256-CBC decryption of payload                  -&gt; OK</a:t>
            </a:r>
          </a:p>
          <a:p>
            <a:pPr/>
            <a:r>
              <a:rPr/>
              <a:t>Step 3: HMAC-SHA256 payment-token integrity check          -&gt; PASS</a:t>
            </a:r>
          </a:p>
          <a:p>
            <a:pPr/>
            <a:r>
              <a:rPr/>
              <a:t>Step 4: Customer RSA-PSS signature verification            -&gt; PASS</a:t>
            </a:r>
          </a:p>
          <a:p>
            <a:pPr/>
            <a:r>
              <a:rPr/>
              <a:t>Step 5: SHA-256 integrity hash recorded.</a:t>
            </a:r>
          </a:p>
          <a:p>
            <a:pPr/>
            <a:r>
              <a:rPr b="1"/>
              <a:t>Gateway authorization: AUTH-2D09DEA534, status = APPROVED.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Attack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04800">
                <a:tc>
                  <a:txBody>
                    <a:bodyPr/>
                    <a:lstStyle/>
                    <a:p>
                      <a:r>
                        <a:t>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Detection 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Outcome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Bit-flip in ciphertext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AES-CBC padding / UTF-8 fails on decrypt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REJECTED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Forged HMAC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HMAC compare_digest mismatch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REJECTED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Forged signature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RSA-PSS verify raises ValueError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REJECTED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Wrong RSA private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OAEP decryption raises ValueError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REJECTED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Replay of old envelope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TXN-ID + timestamp check at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REJECTED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Hybrid encryption gives speed (AES) AND safe key exchange (RSA) in one design.</a:t>
            </a:r>
          </a:p>
          <a:p>
            <a:pPr/>
            <a:r>
              <a:rPr/>
              <a:t>Digital signature adds authenticity and non-repudiation - a layer encryption alone cannot provide.</a:t>
            </a:r>
          </a:p>
          <a:p>
            <a:pPr/>
            <a:r>
              <a:rPr/>
              <a:t>CBC's error-propagation is a useful side-effect for tamper detection in this design.</a:t>
            </a:r>
          </a:p>
          <a:p>
            <a:pPr/>
            <a:r>
              <a:rPr/>
              <a:t>A unique IV per transaction is critical - never reuse an IV under the same key.</a:t>
            </a:r>
          </a:p>
          <a:p>
            <a:pPr/>
            <a:r>
              <a:rPr/>
              <a:t>In production, AEAD (AES-GCM) would replace AES-CBC + HMAC for a single primitive.</a:t>
            </a:r>
          </a:p>
          <a:p>
            <a:pPr/>
            <a:r>
              <a:rPr/>
              <a:t>Real systems add TLS for transport, X.509 certs for identity, and 3-D-Secure for cardholder auth.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A complete secure e-commerce transaction prototype was implemented and verified.</a:t>
            </a:r>
          </a:p>
          <a:p>
            <a:pPr/>
            <a:r>
              <a:rPr/>
              <a:t>All five security objectives (confidentiality, integrity, authenticity, non-repudiation, replay protection) were met.</a:t>
            </a:r>
          </a:p>
          <a:p>
            <a:pPr/>
            <a:r>
              <a:rPr/>
              <a:t>The design correctly rejects tampered ciphertext, forged HMACs, forged signatures, and wrong keys.</a:t>
            </a:r>
          </a:p>
          <a:p>
            <a:pPr/>
            <a:r>
              <a:rPr/>
              <a:t>Defence-in-depth (RSA + AES + HMAC + signature + hash) prevents single-point failures.</a:t>
            </a:r>
          </a:p>
          <a:p>
            <a:pPr/>
            <a:r>
              <a:rPr/>
              <a:t>Future work: swap CBC for AES-GCM (AEAD), add TLS, integrate X.509 certificates and a real payment gateway API.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William Stallings, Cryptography and Network Security - Principles and Practice, 8th Edition, Pearson.</a:t>
            </a:r>
          </a:p>
          <a:p>
            <a:pPr/>
            <a:r>
              <a:rPr/>
              <a:t>NIST FIPS 197 - Advanced Encryption Standard (AES).</a:t>
            </a:r>
          </a:p>
          <a:p>
            <a:pPr/>
            <a:r>
              <a:rPr/>
              <a:t>NIST FIPS 180-4 - Secure Hash Standard (SHA-256).</a:t>
            </a:r>
          </a:p>
          <a:p>
            <a:pPr/>
            <a:r>
              <a:rPr/>
              <a:t>NIST FIPS 186-4 - Digital Signature Standard (RSA-PSS).</a:t>
            </a:r>
          </a:p>
          <a:p>
            <a:pPr/>
            <a:r>
              <a:rPr/>
              <a:t>RFC 8017 - PKCS #1: RSA Cryptography Specifications Version 2.2.</a:t>
            </a:r>
          </a:p>
          <a:p>
            <a:pPr/>
            <a:r>
              <a:rPr/>
              <a:t>RFC 2104 - HMAC: Keyed-Hashing for Message Authentication.</a:t>
            </a:r>
          </a:p>
          <a:p>
            <a:pPr/>
            <a:r>
              <a:rPr/>
              <a:t>PyCryptodome Documentation, https://pycryptodome.readthedocs.io.</a:t>
            </a:r>
          </a:p>
          <a:p>
            <a:pPr/>
            <a:r>
              <a:rPr/>
              <a:t>PCI-DSS v4.0 - Payment Card Industry Data Security Standard.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Questions are welcome.</a:t>
            </a:r>
          </a:p>
          <a:p>
            <a:pPr/>
            <a:r>
              <a:rPr>
                <a:latin typeface="Consolas"/>
              </a:rPr>
              <a:t>Live demo: python secure_ecommerce.py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